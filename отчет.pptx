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65" r:id="rId12"/>
    <p:sldId id="266" r:id="rId13"/>
    <p:sldId id="278" r:id="rId14"/>
    <p:sldId id="269" r:id="rId15"/>
    <p:sldId id="267" r:id="rId16"/>
    <p:sldId id="268" r:id="rId17"/>
    <p:sldId id="271" r:id="rId18"/>
    <p:sldId id="270" r:id="rId19"/>
    <p:sldId id="273" r:id="rId20"/>
    <p:sldId id="279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6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8626-89C8-3A42-A51E-E7D92ACE4F5F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3F0F-B199-D14B-B350-C4872BA3B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74383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8626-89C8-3A42-A51E-E7D92ACE4F5F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3F0F-B199-D14B-B350-C4872BA3B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519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8626-89C8-3A42-A51E-E7D92ACE4F5F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3F0F-B199-D14B-B350-C4872BA3B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4197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8626-89C8-3A42-A51E-E7D92ACE4F5F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3F0F-B199-D14B-B350-C4872BA3B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6230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8626-89C8-3A42-A51E-E7D92ACE4F5F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3F0F-B199-D14B-B350-C4872BA3BBA2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41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8626-89C8-3A42-A51E-E7D92ACE4F5F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3F0F-B199-D14B-B350-C4872BA3B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5352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8626-89C8-3A42-A51E-E7D92ACE4F5F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3F0F-B199-D14B-B350-C4872BA3B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06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8626-89C8-3A42-A51E-E7D92ACE4F5F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3F0F-B199-D14B-B350-C4872BA3B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0588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1C38626-89C8-3A42-A51E-E7D92ACE4F5F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3F0F-B199-D14B-B350-C4872BA3B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8641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8626-89C8-3A42-A51E-E7D92ACE4F5F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3F0F-B199-D14B-B350-C4872BA3B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49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8626-89C8-3A42-A51E-E7D92ACE4F5F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3F0F-B199-D14B-B350-C4872BA3B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383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1C38626-89C8-3A42-A51E-E7D92ACE4F5F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4F483F0F-B199-D14B-B350-C4872BA3B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470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6BD4F2-9A2E-364F-B516-BB377162E9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Отчёт по лабораторной работе: Исследование работы сегмента сети </a:t>
            </a:r>
            <a:r>
              <a:rPr lang="en" dirty="0"/>
              <a:t>CSMA (</a:t>
            </a:r>
            <a:r>
              <a:rPr lang="ru-RU" dirty="0"/>
              <a:t>Вариант 4)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9F1E90F-6E91-0B40-85A9-AAA5C39392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Найденова Дария</a:t>
            </a:r>
            <a:br>
              <a:rPr lang="ru-RU" dirty="0"/>
            </a:br>
            <a:r>
              <a:rPr lang="ru-RU" dirty="0"/>
              <a:t>Сагдиев Айрат</a:t>
            </a:r>
          </a:p>
          <a:p>
            <a:r>
              <a:rPr lang="ru-RU" dirty="0"/>
              <a:t>321 группа</a:t>
            </a:r>
          </a:p>
        </p:txBody>
      </p:sp>
    </p:spTree>
    <p:extLst>
      <p:ext uri="{BB962C8B-B14F-4D97-AF65-F5344CB8AC3E}">
        <p14:creationId xmlns:p14="http://schemas.microsoft.com/office/powerpoint/2010/main" val="792958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361C2A-EC42-1348-B6FE-58E7AF5A6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Цель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F60FA7-403C-3143-AD37-C474D5688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Изучить работу сегмента сети </a:t>
            </a:r>
            <a:r>
              <a:rPr lang="en" dirty="0"/>
              <a:t>CSMA </a:t>
            </a:r>
            <a:r>
              <a:rPr lang="ru-RU" dirty="0"/>
              <a:t>при различных значениях интенсивности генерации пакетов </a:t>
            </a:r>
            <a:r>
              <a:rPr lang="el-GR" dirty="0"/>
              <a:t>α </a:t>
            </a:r>
            <a:r>
              <a:rPr lang="ru-RU" dirty="0"/>
              <a:t>и различном числе станций </a:t>
            </a:r>
            <a:r>
              <a:rPr lang="en" dirty="0"/>
              <a:t>N, </a:t>
            </a:r>
            <a:r>
              <a:rPr lang="ru-RU" dirty="0"/>
              <a:t>исследовать поведение очередей адаптеров, занятость канала и потери пакетов в условиях отсутствия коллизий.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998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C5EBCF-1EF0-EE44-A025-9F7FA993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B8D964-9568-4C4D-A216-528DE24B4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485354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Для модели сети </a:t>
            </a:r>
            <a:r>
              <a:rPr lang="en" dirty="0"/>
              <a:t>CSMA </a:t>
            </a:r>
            <a:r>
              <a:rPr lang="ru-RU" dirty="0"/>
              <a:t>со следующими параметрами:</a:t>
            </a:r>
          </a:p>
          <a:p>
            <a:r>
              <a:rPr lang="ru-RU" dirty="0"/>
              <a:t>Скорость канала: 𝐵=100 Мбит/с</a:t>
            </a:r>
          </a:p>
          <a:p>
            <a:r>
              <a:rPr lang="ru-RU" dirty="0"/>
              <a:t>Длина канала: 𝐿=30 м</a:t>
            </a:r>
          </a:p>
          <a:p>
            <a:r>
              <a:rPr lang="ru-RU" dirty="0"/>
              <a:t>Длина пакета: 𝑙=1500 байт</a:t>
            </a:r>
          </a:p>
          <a:p>
            <a:r>
              <a:rPr lang="ru-RU" dirty="0"/>
              <a:t>Экспоненциальное распределение интервалов между пакетами со средним 1/𝛼</a:t>
            </a:r>
          </a:p>
          <a:p>
            <a:r>
              <a:rPr lang="ru-RU" dirty="0"/>
              <a:t>Время моделирования: 10 секунд (для первой части) и до 60 секунд (для второй части)</a:t>
            </a:r>
          </a:p>
          <a:p>
            <a:r>
              <a:rPr lang="ru-RU" dirty="0"/>
              <a:t>Требуется:</a:t>
            </a:r>
          </a:p>
          <a:p>
            <a:r>
              <a:rPr lang="ru-RU" dirty="0"/>
              <a:t>1. Найти максимальное количество станций 𝑁, при котором занятость канала не превышает 50% для значений 𝛼=10,50,100.</a:t>
            </a:r>
          </a:p>
          <a:p>
            <a:r>
              <a:rPr lang="ru-RU" dirty="0"/>
              <a:t>2. Найти максимальное 𝑁, при котором очередь адаптера остаётся стабильной (не растёт бесконечно).</a:t>
            </a:r>
          </a:p>
        </p:txBody>
      </p:sp>
    </p:spTree>
    <p:extLst>
      <p:ext uri="{BB962C8B-B14F-4D97-AF65-F5344CB8AC3E}">
        <p14:creationId xmlns:p14="http://schemas.microsoft.com/office/powerpoint/2010/main" val="2489899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727E4C-DEAC-CA4F-A89E-983843644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6A14DA-2B45-7F4D-860D-A0F63D346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Топология: </a:t>
            </a:r>
            <a:r>
              <a:rPr lang="en" dirty="0"/>
              <a:t>N </a:t>
            </a:r>
            <a:r>
              <a:rPr lang="ru-RU" dirty="0"/>
              <a:t>хостов подключены к одному общему каналу </a:t>
            </a:r>
            <a:r>
              <a:rPr lang="en" dirty="0"/>
              <a:t>CSMA.</a:t>
            </a:r>
          </a:p>
          <a:p>
            <a:r>
              <a:rPr lang="ru-RU" dirty="0"/>
              <a:t>Канал: </a:t>
            </a:r>
            <a:r>
              <a:rPr lang="en" dirty="0"/>
              <a:t>CSMA </a:t>
            </a:r>
            <a:r>
              <a:rPr lang="ru-RU" dirty="0"/>
              <a:t>без коллизий, скорость 100 Мбит/с</a:t>
            </a:r>
          </a:p>
          <a:p>
            <a:r>
              <a:rPr lang="ru-RU" dirty="0"/>
              <a:t>Трафик: Каждый хост генерирует пакеты с экспоненциальным интервалом "</a:t>
            </a:r>
            <a:r>
              <a:rPr lang="en" dirty="0"/>
              <a:t>Exp" (𝛼).</a:t>
            </a:r>
          </a:p>
          <a:p>
            <a:r>
              <a:rPr lang="ru-RU" dirty="0"/>
              <a:t>Буфер адаптера: В первой части ограничен 20 пакетами, во второй — неограничен.</a:t>
            </a:r>
          </a:p>
          <a:p>
            <a:r>
              <a:rPr lang="ru-RU" dirty="0"/>
              <a:t>Механизм передачи: Хост проверяет занятость канала перед отправкой. Если канал свободен — пакет отправляется, иначе — ожидание.</a:t>
            </a:r>
          </a:p>
        </p:txBody>
      </p:sp>
    </p:spTree>
    <p:extLst>
      <p:ext uri="{BB962C8B-B14F-4D97-AF65-F5344CB8AC3E}">
        <p14:creationId xmlns:p14="http://schemas.microsoft.com/office/powerpoint/2010/main" val="2408106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14B83A-7A3A-9747-A906-85A8E6FEA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638044"/>
            <a:ext cx="7729728" cy="1188720"/>
          </a:xfrm>
        </p:spPr>
        <p:txBody>
          <a:bodyPr/>
          <a:lstStyle/>
          <a:p>
            <a:r>
              <a:rPr lang="ru-RU" dirty="0"/>
              <a:t>Реализация модели</a:t>
            </a:r>
          </a:p>
        </p:txBody>
      </p:sp>
    </p:spTree>
    <p:extLst>
      <p:ext uri="{BB962C8B-B14F-4D97-AF65-F5344CB8AC3E}">
        <p14:creationId xmlns:p14="http://schemas.microsoft.com/office/powerpoint/2010/main" val="941124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1624CC-279C-6345-B798-36D03652D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F1115"/>
                </a:solidFill>
                <a:effectLst/>
                <a:latin typeface="quote-cjk-patch"/>
              </a:rPr>
              <a:t>1. Реализация генерации пакетов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866E7C-5973-304D-B917-2BE1C4D9C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1748" y="2586674"/>
            <a:ext cx="8248504" cy="3485354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ru-RU" b="1" dirty="0"/>
              <a:t>Необходимо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с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оздать механизм поступления трафика в систему, имитирующий реальную работу сетевых приложений.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Экспоненциальное распределение интервалов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каждый хост генерирует пакеты с промежутками, подчиняющимися экспоненциальному закону со средним значением 1/</a:t>
            </a:r>
            <a:r>
              <a:rPr lang="el-GR" b="0" i="0" dirty="0">
                <a:solidFill>
                  <a:srgbClr val="0F1115"/>
                </a:solidFill>
                <a:effectLst/>
                <a:latin typeface="quote-cjk-patch"/>
              </a:rPr>
              <a:t>α.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Это соответствует пуассоновскому потоку — классической модели сетевого трафика.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Уникальная идентификация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каждый пакет получает уникальный числовой идентификатор (</a:t>
            </a:r>
            <a:r>
              <a:rPr lang="en" b="0" i="0" dirty="0" err="1">
                <a:solidFill>
                  <a:srgbClr val="0F1115"/>
                </a:solidFill>
                <a:effectLst/>
                <a:latin typeface="quote-cjk-patch"/>
              </a:rPr>
              <a:t>global_pkt_id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),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что позволяет отслеживать его жизненный цикл от создания до завершения передачи.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Планирование событий прибытия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используется подход дискретно-событийного моделирования: при создании пакета сразу планируется следующее событие прибытия, образуя цепочку:</a:t>
            </a:r>
            <a:endParaRPr lang="e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Прибытие пакета → обработка → планирование следующего прибытия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Интеграция с </a:t>
            </a:r>
            <a:r>
              <a:rPr lang="en" b="1" i="0" dirty="0">
                <a:solidFill>
                  <a:srgbClr val="0F1115"/>
                </a:solidFill>
                <a:effectLst/>
                <a:latin typeface="quote-cjk-patch"/>
              </a:rPr>
              <a:t>CSMA-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логикой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генерация не является независимым процессом; при создании пакета сразу проверяются условия 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CSMA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для возможной немедленной передачи.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054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1624CC-279C-6345-B798-36D03652D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0F1115"/>
                </a:solidFill>
                <a:effectLst/>
                <a:latin typeface="quote-cjk-patch"/>
              </a:rPr>
              <a:t>2. Реализация буфера адаптера (очереди пакетов)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866E7C-5973-304D-B917-2BE1C4D9C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7635" y="2555851"/>
            <a:ext cx="8556729" cy="3762756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Необходимо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создать механизм временного хранения пакетов, ожидающих доступа к разделяемому каналу.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Распределённые очереди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у каждого хоста своя отдельная очередь (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deque&lt;Packet&gt;),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что соответствует архитектуре реальных сетевых адаптеров, где каждый интерфейс имеет собственный буфер.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Статистика очереди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отслеживаются ключевые метрики: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Максимальная длина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пиковая нагрузка на буфер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Средняя длина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time-weighted) —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интеграл длины очереди по времени, делённый на время симуляции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Площадь под кривой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 </a:t>
            </a:r>
            <a:r>
              <a:rPr lang="en" b="0" i="0" dirty="0" err="1">
                <a:solidFill>
                  <a:srgbClr val="0F1115"/>
                </a:solidFill>
                <a:effectLst/>
                <a:latin typeface="quote-cjk-patch"/>
              </a:rPr>
              <a:t>queue_time_area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для точного расчёта средних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Механизм потерь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при включённом ограничении и переполнении очереди пакет отбрасывается с увеличением счётчика </a:t>
            </a:r>
            <a:r>
              <a:rPr lang="en" b="0" i="0" dirty="0" err="1">
                <a:solidFill>
                  <a:srgbClr val="0F1115"/>
                </a:solidFill>
                <a:effectLst/>
                <a:latin typeface="quote-cjk-patch"/>
              </a:rPr>
              <a:t>total_dropped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9629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1624CC-279C-6345-B798-36D03652D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0F1115"/>
                </a:solidFill>
                <a:latin typeface="quote-cjk-patch"/>
              </a:rPr>
              <a:t>3. </a:t>
            </a:r>
            <a:r>
              <a:rPr lang="ru-RU" dirty="0">
                <a:solidFill>
                  <a:srgbClr val="0F1115"/>
                </a:solidFill>
                <a:effectLst/>
                <a:latin typeface="quote-cjk-patch"/>
              </a:rPr>
              <a:t>Моделирование процесса передачи (</a:t>
            </a:r>
            <a:r>
              <a:rPr lang="en" dirty="0">
                <a:solidFill>
                  <a:srgbClr val="0F1115"/>
                </a:solidFill>
                <a:effectLst/>
                <a:latin typeface="quote-cjk-patch"/>
              </a:rPr>
              <a:t>CSMA </a:t>
            </a:r>
            <a:r>
              <a:rPr lang="ru-RU" dirty="0">
                <a:solidFill>
                  <a:srgbClr val="0F1115"/>
                </a:solidFill>
                <a:effectLst/>
                <a:latin typeface="quote-cjk-patch"/>
              </a:rPr>
              <a:t>логика)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866E7C-5973-304D-B917-2BE1C4D9C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7667" y="2545577"/>
            <a:ext cx="8836666" cy="3701111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spcBef>
                <a:spcPts val="400"/>
              </a:spcBef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Необходимо: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Реализовать протокол доступа к разделяемой среде передачи без коллизий.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Что было реализовано: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Двухфазный цикл работы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742950" lvl="1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F1115"/>
                </a:solidFill>
                <a:latin typeface="quote-cjk-patch"/>
              </a:rPr>
              <a:t>Ожидание и проверка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при прибытии пакета</a:t>
            </a:r>
            <a:endParaRPr lang="ru-RU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Передача данных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в течение фиксированного времени</a:t>
            </a:r>
            <a:endParaRPr lang="e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Алгоритм </a:t>
            </a:r>
            <a:r>
              <a:rPr lang="en" b="1" i="0" dirty="0">
                <a:solidFill>
                  <a:srgbClr val="0F1115"/>
                </a:solidFill>
                <a:effectLst/>
                <a:latin typeface="quote-cjk-patch"/>
              </a:rPr>
              <a:t>CSMA</a:t>
            </a:r>
            <a:endParaRPr lang="ru-RU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Механизм выбора следующего передатчика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после завершения передачи реализован алгоритм выбора пакета с самым ранним временем прибытия (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FIFO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 времени создания).</a:t>
            </a:r>
            <a:endParaRPr lang="e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Учёт занятости канала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точное измерение времени, когда канал используется для передачи:</a:t>
            </a:r>
          </a:p>
          <a:p>
            <a:pPr marL="742950" lvl="1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Фиксация времени начала передачи (</a:t>
            </a:r>
            <a:r>
              <a:rPr lang="en" b="0" i="0" dirty="0" err="1">
                <a:solidFill>
                  <a:srgbClr val="0F1115"/>
                </a:solidFill>
                <a:effectLst/>
                <a:latin typeface="quote-cjk-patch"/>
              </a:rPr>
              <a:t>channel_busy_start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marL="742950" lvl="1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Накопление суммарного времени занятости (</a:t>
            </a:r>
            <a:r>
              <a:rPr lang="en" b="0" i="0" dirty="0" err="1">
                <a:solidFill>
                  <a:srgbClr val="0F1115"/>
                </a:solidFill>
                <a:effectLst/>
                <a:latin typeface="quote-cjk-patch"/>
              </a:rPr>
              <a:t>cumulative_channel_busy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marL="742950" lvl="1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Вычисление утилизации: </a:t>
            </a:r>
            <a:r>
              <a:rPr lang="en" b="0" i="0" dirty="0" err="1">
                <a:solidFill>
                  <a:srgbClr val="0F1115"/>
                </a:solidFill>
                <a:effectLst/>
                <a:latin typeface="quote-cjk-patch"/>
              </a:rPr>
              <a:t>channel_util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 = </a:t>
            </a:r>
            <a:r>
              <a:rPr lang="en" b="0" i="0" dirty="0" err="1">
                <a:solidFill>
                  <a:srgbClr val="0F1115"/>
                </a:solidFill>
                <a:effectLst/>
                <a:latin typeface="quote-cjk-patch"/>
              </a:rPr>
              <a:t>cumulative_channel_busy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 / </a:t>
            </a:r>
            <a:r>
              <a:rPr lang="en" b="0" i="0" dirty="0" err="1">
                <a:solidFill>
                  <a:srgbClr val="0F1115"/>
                </a:solidFill>
                <a:effectLst/>
                <a:latin typeface="quote-cjk-patch"/>
              </a:rPr>
              <a:t>simTime</a:t>
            </a:r>
            <a:endParaRPr lang="en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330249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9846248D-72AA-3445-ACD9-B9FA75D18B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35" t="4372" r="7853" b="1233"/>
          <a:stretch/>
        </p:blipFill>
        <p:spPr>
          <a:xfrm>
            <a:off x="2294562" y="3777441"/>
            <a:ext cx="3801438" cy="2928135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68CF5F0-ADCA-7844-AA86-2C5E5C9E4E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12" t="5740" r="7850" b="230"/>
          <a:stretch/>
        </p:blipFill>
        <p:spPr>
          <a:xfrm>
            <a:off x="6238198" y="158405"/>
            <a:ext cx="5178175" cy="41199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3607701-50D2-7B47-903A-4CC2A32BC0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82" t="5321" r="8684" b="1081"/>
          <a:stretch/>
        </p:blipFill>
        <p:spPr>
          <a:xfrm>
            <a:off x="1073434" y="158405"/>
            <a:ext cx="4433372" cy="353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709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BDB9AC-BBE8-B84B-BCDC-32570BB4C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Замер характеристик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6A1356-387A-5D4B-A3AD-F0C8AF763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rgbClr val="0F1115"/>
                </a:solidFill>
                <a:effectLst/>
                <a:latin typeface="quote-cjk-patch"/>
              </a:rPr>
              <a:t>Характеристики, которые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будет </a:t>
            </a:r>
            <a:r>
              <a:rPr lang="ru-RU" dirty="0">
                <a:solidFill>
                  <a:srgbClr val="0F1115"/>
                </a:solidFill>
                <a:effectLst/>
                <a:latin typeface="quote-cjk-patch"/>
              </a:rPr>
              <a:t>вычислять модель:</a:t>
            </a:r>
          </a:p>
          <a:p>
            <a:r>
              <a:rPr lang="ru-RU" dirty="0">
                <a:solidFill>
                  <a:srgbClr val="0F1115"/>
                </a:solidFill>
                <a:effectLst/>
                <a:latin typeface="quote-cjk-patch"/>
              </a:rPr>
              <a:t>Средняя доля потерянных пакетов</a:t>
            </a:r>
          </a:p>
          <a:p>
            <a:r>
              <a:rPr lang="ru-RU" dirty="0">
                <a:solidFill>
                  <a:srgbClr val="0F1115"/>
                </a:solidFill>
                <a:effectLst/>
                <a:latin typeface="quote-cjk-patch"/>
              </a:rPr>
              <a:t>Среднее число попыток повторной передачи пакета</a:t>
            </a:r>
          </a:p>
          <a:p>
            <a:r>
              <a:rPr lang="ru-RU" dirty="0">
                <a:solidFill>
                  <a:srgbClr val="0F1115"/>
                </a:solidFill>
                <a:effectLst/>
                <a:latin typeface="quote-cjk-patch"/>
              </a:rPr>
              <a:t>Среднее и максимальное число пакетов в буфере адаптера</a:t>
            </a:r>
          </a:p>
          <a:p>
            <a:pPr algn="l"/>
            <a:r>
              <a:rPr lang="ru-RU" dirty="0">
                <a:solidFill>
                  <a:srgbClr val="0F1115"/>
                </a:solidFill>
                <a:effectLst/>
                <a:latin typeface="quote-cjk-patch"/>
              </a:rPr>
              <a:t>Средняя занятость канала</a:t>
            </a:r>
          </a:p>
          <a:p>
            <a:pPr marL="0" indent="0">
              <a:buNone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Будем проводить замеры при различных </a:t>
            </a:r>
            <a:r>
              <a:rPr lang="en-US" i="0" dirty="0">
                <a:solidFill>
                  <a:srgbClr val="0F1115"/>
                </a:solidFill>
                <a:effectLst/>
                <a:latin typeface="quote-cjk-patch"/>
              </a:rPr>
              <a:t>N</a:t>
            </a: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 со такими параметрами: </a:t>
            </a:r>
            <a:r>
              <a:rPr lang="en" dirty="0"/>
              <a:t>𝛼</a:t>
            </a:r>
            <a:r>
              <a:rPr lang="ru-RU" dirty="0"/>
              <a:t> = 50, 𝐵=100 Мбит/с, 𝐿=30 м, 𝑙=1500 байт. </a:t>
            </a:r>
          </a:p>
          <a:p>
            <a:pPr marL="0" indent="0" algn="l">
              <a:buNone/>
            </a:pPr>
            <a:endParaRPr lang="ru-RU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2545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D2B85AD8-E0FD-7D4F-BC66-F4C74CF79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006" b="165"/>
          <a:stretch/>
        </p:blipFill>
        <p:spPr>
          <a:xfrm>
            <a:off x="2269349" y="4108449"/>
            <a:ext cx="7653302" cy="2515936"/>
          </a:xfr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0393D65-B952-B148-9922-E42181E41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801" y="233615"/>
            <a:ext cx="6312398" cy="378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925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A8AEF8-0906-9147-A49F-7FEC2A179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Нахождение максимального </a:t>
            </a:r>
            <a:r>
              <a:rPr lang="en" dirty="0"/>
              <a:t>N </a:t>
            </a:r>
            <a:r>
              <a:rPr lang="ru-RU" dirty="0"/>
              <a:t>при Хар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4 ≤ 0.5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981702-EB17-D849-BE10-22D85A6BA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Программа </a:t>
            </a:r>
            <a:r>
              <a:rPr lang="en" dirty="0" err="1"/>
              <a:t>find_max_n.py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 —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это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вспомогательный скрипт для автоматизации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поиска максимального количества станций </a:t>
            </a:r>
            <a:r>
              <a:rPr lang="en" dirty="0"/>
              <a:t>N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при котором занятость канала (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channel utilization)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не превышает заданный порог (по умолчанию 50%).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Формирует командную строку с параметрами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Выполняет симуляцию через 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subprocess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Извлекает значение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занятости канала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из вывода с помощью регулярного выражения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Использует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алгоритм бинарного поиска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для эффективного нахождения границы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Проверяет значения 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N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от 1 до 500 (по умолчанию)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Сохраняет последнее 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N,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при котором выполняется условие: 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channel utilization &lt; 0.5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0200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043EAF-29C7-9D47-ACE5-F2EF590AF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Нахождение максимального </a:t>
            </a:r>
            <a:r>
              <a:rPr lang="en" dirty="0"/>
              <a:t>N </a:t>
            </a:r>
            <a:r>
              <a:rPr lang="ru-RU" dirty="0"/>
              <a:t>при Хар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4 ≤ 0.5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80D5918-EDDC-7849-BC19-E06C914376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8159" y="2230622"/>
            <a:ext cx="5995681" cy="4115954"/>
          </a:xfrm>
        </p:spPr>
      </p:pic>
    </p:spTree>
    <p:extLst>
      <p:ext uri="{BB962C8B-B14F-4D97-AF65-F5344CB8AC3E}">
        <p14:creationId xmlns:p14="http://schemas.microsoft.com/office/powerpoint/2010/main" val="764711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0844B-8862-D249-AE64-B5FDD780F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Нахождение максимального </a:t>
            </a:r>
            <a:r>
              <a:rPr lang="en" dirty="0"/>
              <a:t>N </a:t>
            </a:r>
            <a:r>
              <a:rPr lang="ru-RU" dirty="0"/>
              <a:t>при Хар4 ≤ 0.5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327F3571-BA1E-5C40-A1A6-5AB5F1115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5106" y="4846726"/>
            <a:ext cx="7729728" cy="3101983"/>
          </a:xfrm>
        </p:spPr>
        <p:txBody>
          <a:bodyPr/>
          <a:lstStyle/>
          <a:p>
            <a:r>
              <a:rPr lang="ru-RU" dirty="0">
                <a:effectLst/>
              </a:rPr>
              <a:t>Для </a:t>
            </a:r>
            <a:r>
              <a:rPr lang="en" dirty="0"/>
              <a:t> </a:t>
            </a:r>
            <a:r>
              <a:rPr lang="en" sz="1600" dirty="0">
                <a:latin typeface="Arial" panose="020B0604020202020204" pitchFamily="34" charset="0"/>
                <a:cs typeface="Arial" panose="020B0604020202020204" pitchFamily="34" charset="0"/>
              </a:rPr>
              <a:t>𝛼 =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" sz="16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 = 417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effectLst/>
              </a:rPr>
              <a:t>Для </a:t>
            </a:r>
            <a:r>
              <a:rPr lang="en" dirty="0"/>
              <a:t> </a:t>
            </a:r>
            <a:r>
              <a:rPr lang="en" sz="1600" dirty="0">
                <a:latin typeface="Arial" panose="020B0604020202020204" pitchFamily="34" charset="0"/>
                <a:cs typeface="Arial" panose="020B0604020202020204" pitchFamily="34" charset="0"/>
              </a:rPr>
              <a:t>𝛼 =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" sz="16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 = 41</a:t>
            </a:r>
            <a:endParaRPr lang="ru-RU" sz="16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dirty="0"/>
              <a:t>В обоих случаях средняя доля потерянных пакетов равна нулю.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8F6003-121E-2546-9A34-EFBCEB2594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419"/>
          <a:stretch/>
        </p:blipFill>
        <p:spPr>
          <a:xfrm>
            <a:off x="314075" y="2235200"/>
            <a:ext cx="5461000" cy="230597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A3110F9-8E91-524B-9224-05A447AC9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35200"/>
            <a:ext cx="5651500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192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0844B-8862-D249-AE64-B5FDD780F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Нахождение максимального </a:t>
            </a:r>
            <a:r>
              <a:rPr lang="en" dirty="0"/>
              <a:t>N </a:t>
            </a:r>
            <a:r>
              <a:rPr lang="ru-RU" dirty="0"/>
              <a:t>при Хар4 ≤ 0.5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A2B137F-BC60-F748-A17C-A4B6A0A17C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8349" y="2466578"/>
            <a:ext cx="5575300" cy="23749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47FD86-9B73-FC40-976A-3AD3E16200BA}"/>
              </a:ext>
            </a:extLst>
          </p:cNvPr>
          <p:cNvSpPr txBox="1"/>
          <p:nvPr/>
        </p:nvSpPr>
        <p:spPr>
          <a:xfrm>
            <a:off x="2388318" y="5154644"/>
            <a:ext cx="74153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effectLst/>
              </a:rPr>
              <a:t>Для </a:t>
            </a:r>
            <a:r>
              <a:rPr lang="en" dirty="0"/>
              <a:t> 𝛼 = 50</a:t>
            </a:r>
            <a:r>
              <a:rPr lang="en" b="1" dirty="0">
                <a:effectLst/>
              </a:rPr>
              <a:t>: </a:t>
            </a:r>
            <a:r>
              <a:rPr lang="ru-RU" dirty="0">
                <a:effectLst/>
              </a:rPr>
              <a:t>Максимум </a:t>
            </a:r>
            <a:r>
              <a:rPr lang="ru-RU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83</a:t>
            </a:r>
            <a:r>
              <a:rPr lang="ru-RU" dirty="0">
                <a:effectLst/>
              </a:rPr>
              <a:t> хоста могут работать одновременно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effectLst/>
              </a:rPr>
              <a:t>При этом канал будет примерно </a:t>
            </a:r>
            <a:r>
              <a:rPr lang="ru-RU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  <a:r>
              <a:rPr lang="ru-RU" dirty="0">
                <a:effectLst/>
              </a:rPr>
              <a:t>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effectLst/>
              </a:rPr>
              <a:t>При </a:t>
            </a:r>
            <a:r>
              <a:rPr lang="ru-RU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84</a:t>
            </a:r>
            <a:r>
              <a:rPr lang="ru-RU" dirty="0">
                <a:effectLst/>
              </a:rPr>
              <a:t> хостах канал перегружается (занятость &gt; </a:t>
            </a:r>
            <a:r>
              <a:rPr lang="ru-RU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  <a:r>
              <a:rPr lang="ru-RU" dirty="0">
                <a:effectLst/>
              </a:rPr>
              <a:t>%)</a:t>
            </a:r>
          </a:p>
          <a:p>
            <a:r>
              <a:rPr lang="ru-RU" dirty="0"/>
              <a:t>Следовательно, </a:t>
            </a:r>
            <a:r>
              <a:rPr lang="en-US" dirty="0"/>
              <a:t>N = 83, </a:t>
            </a:r>
            <a:r>
              <a:rPr lang="ru-RU" dirty="0"/>
              <a:t>при этом Хар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ru-RU" dirty="0"/>
              <a:t> (ср. доля потерянных пакетов) = 0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1612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6F461-3E58-A54D-B2D7-4A1041B5D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Нахождение максимального </a:t>
            </a:r>
            <a:r>
              <a:rPr lang="en" dirty="0"/>
              <a:t>N </a:t>
            </a:r>
            <a:r>
              <a:rPr lang="ru-RU" dirty="0"/>
              <a:t>с ограниченной очередью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BD8EFA-E153-6C4F-ABBA-B6864883C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Написанная программа </a:t>
            </a:r>
            <a:r>
              <a:rPr lang="en-US" dirty="0" err="1"/>
              <a:t>find_stable_queue.py</a:t>
            </a:r>
            <a:r>
              <a:rPr lang="en-US" dirty="0"/>
              <a:t> </a:t>
            </a:r>
            <a:r>
              <a:rPr lang="ru-RU" dirty="0">
                <a:effectLst/>
              </a:rPr>
              <a:t>находит максимальное количество хостов (</a:t>
            </a:r>
            <a:r>
              <a:rPr lang="en" dirty="0">
                <a:effectLst/>
              </a:rPr>
              <a:t>N), </a:t>
            </a:r>
            <a:r>
              <a:rPr lang="ru-RU" dirty="0">
                <a:effectLst/>
              </a:rPr>
              <a:t>при котором очередь стабильна (не растёт неограниченно), используя бинарный поиск.</a:t>
            </a:r>
            <a:br>
              <a:rPr lang="ru-RU" dirty="0"/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8BE4A27-210E-1C46-8933-FEA7FBA6B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3756131"/>
            <a:ext cx="5473700" cy="22225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4C4CD31-93F6-E54B-9A12-DB28EC2D2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204" y="3570360"/>
            <a:ext cx="5473700" cy="304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745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6F461-3E58-A54D-B2D7-4A1041B5D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Нахождение максимального </a:t>
            </a:r>
            <a:r>
              <a:rPr lang="en" dirty="0"/>
              <a:t>N </a:t>
            </a:r>
            <a:r>
              <a:rPr lang="ru-RU" dirty="0"/>
              <a:t>с ограниченной очередью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BD8EFA-E153-6C4F-ABBA-B6864883C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1395" y="2925567"/>
            <a:ext cx="1414909" cy="3101983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Для </a:t>
            </a:r>
            <a:r>
              <a:rPr lang="en" dirty="0">
                <a:latin typeface="Arial" panose="020B0604020202020204" pitchFamily="34" charset="0"/>
                <a:cs typeface="Arial" panose="020B0604020202020204" pitchFamily="34" charset="0"/>
              </a:rPr>
              <a:t> 𝛼 =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 = </a:t>
            </a:r>
            <a:r>
              <a:rPr lang="ru-RU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500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Для </a:t>
            </a:r>
            <a:r>
              <a:rPr lang="en" dirty="0">
                <a:latin typeface="Arial" panose="020B0604020202020204" pitchFamily="34" charset="0"/>
                <a:cs typeface="Arial" panose="020B0604020202020204" pitchFamily="34" charset="0"/>
              </a:rPr>
              <a:t> 𝛼 =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 = </a:t>
            </a:r>
            <a:r>
              <a:rPr lang="ru-RU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83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C6359E4-B64F-1543-8AAC-8A2F6C384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73" y="2467723"/>
            <a:ext cx="4406900" cy="37719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DD9293F-7301-D64D-A253-017DC9FE8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627" y="2467723"/>
            <a:ext cx="4521200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475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6F461-3E58-A54D-B2D7-4A1041B5D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Нахождение максимального </a:t>
            </a:r>
            <a:r>
              <a:rPr lang="en" dirty="0"/>
              <a:t>N </a:t>
            </a:r>
            <a:r>
              <a:rPr lang="ru-RU" dirty="0"/>
              <a:t>с ограниченной очередью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BD8EFA-E153-6C4F-ABBA-B6864883C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5886" y="2638044"/>
            <a:ext cx="4987462" cy="3101983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B3B3B"/>
                </a:solidFill>
                <a:effectLst/>
                <a:latin typeface="-apple-system"/>
              </a:rPr>
              <a:t>Для </a:t>
            </a:r>
            <a:r>
              <a:rPr lang="en" dirty="0"/>
              <a:t> 𝛼 = 50: </a:t>
            </a:r>
            <a:r>
              <a:rPr lang="ru-RU" dirty="0">
                <a:solidFill>
                  <a:srgbClr val="3B3B3B"/>
                </a:solidFill>
                <a:latin typeface="-apple-system"/>
              </a:rPr>
              <a:t>м</a:t>
            </a:r>
            <a:r>
              <a:rPr lang="ru-RU" b="0" i="0" dirty="0">
                <a:solidFill>
                  <a:srgbClr val="3B3B3B"/>
                </a:solidFill>
                <a:effectLst/>
                <a:latin typeface="-apple-system"/>
              </a:rPr>
              <a:t>аксимум 166 хостов можно поддерживать со стабильной очередью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B3B3B"/>
                </a:solidFill>
                <a:effectLst/>
                <a:latin typeface="-apple-system"/>
              </a:rPr>
              <a:t>При 167+ хостах очередь начинает расти неограниченно</a:t>
            </a:r>
          </a:p>
          <a:p>
            <a:r>
              <a:rPr lang="ru-RU" dirty="0">
                <a:solidFill>
                  <a:srgbClr val="3B3B3B"/>
                </a:solidFill>
                <a:latin typeface="-apple-system"/>
              </a:rPr>
              <a:t>Д</a:t>
            </a:r>
            <a:r>
              <a:rPr lang="ru-RU" b="0" i="0" dirty="0">
                <a:solidFill>
                  <a:srgbClr val="3B3B3B"/>
                </a:solidFill>
                <a:effectLst/>
                <a:latin typeface="-apple-system"/>
              </a:rPr>
              <a:t>ля данной нагрузки ограничивающим фактором является занятость канала, а не стабильность очереди. Система может поддерживать больше хостов со стабильной очередью, чем при ограничении по занятости канала.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B0A7C8D-C0E9-C24A-8AA5-19CAB3B87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34" y="2402155"/>
            <a:ext cx="4381500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803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9BAF6D-C9E9-1441-87DB-FECD1964F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Дополнительное исследование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6508B3-6C0A-3C48-912D-A2553388F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сследование зависимости средней занятности канала (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channel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util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от длина пакета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(в байтах). </a:t>
            </a:r>
          </a:p>
          <a:p>
            <a:pPr>
              <a:spcBef>
                <a:spcPts val="1350"/>
              </a:spcBef>
              <a:spcAft>
                <a:spcPts val="6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Основные функции программной реализации: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 err="1"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run_sim</a:t>
            </a:r>
            <a:r>
              <a:rPr lang="ru-RU" sz="1800" dirty="0"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(</a:t>
            </a:r>
            <a:r>
              <a:rPr lang="ru-RU" sz="1800" dirty="0" err="1"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, </a:t>
            </a:r>
            <a:r>
              <a:rPr lang="ru-RU" sz="1800" dirty="0" err="1"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alpha</a:t>
            </a:r>
            <a:r>
              <a:rPr lang="ru-RU" sz="1800" dirty="0"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, </a:t>
            </a:r>
            <a:r>
              <a:rPr lang="ru-RU" sz="1800" dirty="0" err="1"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l_bytes</a:t>
            </a:r>
            <a:r>
              <a:rPr lang="ru-RU" sz="1800" dirty="0"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, ...)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— запускает симуляцию 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csma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cpp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с заданными параметрами и извлекает </a:t>
            </a:r>
            <a:r>
              <a:rPr lang="ru-RU" sz="1800" dirty="0" err="1"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channel_util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 err="1"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analyze_channel_util_vs_l</a:t>
            </a:r>
            <a:r>
              <a:rPr lang="ru-RU" sz="1800" dirty="0"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(</a:t>
            </a:r>
            <a:r>
              <a:rPr lang="ru-RU" sz="1800" dirty="0" err="1"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, </a:t>
            </a:r>
            <a:r>
              <a:rPr lang="ru-RU" sz="1800" dirty="0" err="1"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alpha</a:t>
            </a:r>
            <a:r>
              <a:rPr lang="ru-RU" sz="1800" dirty="0"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, </a:t>
            </a:r>
            <a:r>
              <a:rPr lang="ru-RU" sz="1800" dirty="0" err="1"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l_min</a:t>
            </a:r>
            <a:r>
              <a:rPr lang="ru-RU" sz="1800" dirty="0"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, </a:t>
            </a:r>
            <a:r>
              <a:rPr lang="ru-RU" sz="1800" dirty="0" err="1"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l_max</a:t>
            </a:r>
            <a:r>
              <a:rPr lang="ru-RU" sz="1800" dirty="0"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, </a:t>
            </a:r>
            <a:r>
              <a:rPr lang="ru-RU" sz="1800" dirty="0" err="1"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l_step</a:t>
            </a:r>
            <a:r>
              <a:rPr lang="ru-RU" sz="1800" dirty="0"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)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— анализирует зависимость для диапазона значений </a:t>
            </a:r>
            <a:r>
              <a:rPr lang="ru-RU" sz="1800" dirty="0" err="1"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l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 err="1"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plot_results</a:t>
            </a:r>
            <a:r>
              <a:rPr lang="ru-RU" sz="1800" dirty="0"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(...)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— строит график зависимости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3189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95FEE8-2CD7-9645-9327-4D278537D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Дополнительное исследование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63340E8-3EA6-1D4F-A297-4E00EF2A23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0366" y="2543831"/>
            <a:ext cx="6751267" cy="3586988"/>
          </a:xfrm>
        </p:spPr>
      </p:pic>
    </p:spTree>
    <p:extLst>
      <p:ext uri="{BB962C8B-B14F-4D97-AF65-F5344CB8AC3E}">
        <p14:creationId xmlns:p14="http://schemas.microsoft.com/office/powerpoint/2010/main" val="42364059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9E17B0-CB15-EF42-8C17-93AC7EA88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F2BA56B8-49D8-B646-8A40-5419D0BDB2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204" y="2371297"/>
            <a:ext cx="6853592" cy="411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453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AA9CAE-D58D-FD4D-B517-D2D455E8D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C1DD32-C10C-FD45-8A83-B4B2EF058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Font typeface="Symbol" pitchFamily="2" charset="2"/>
              <a:buChar char="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Прямая зависимость: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channel_util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линейно растёт с увеличением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Пропорциональность: примерно пропорциональна длине пакета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≈ 2500 байт достигается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channel_util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≈ 50% для данных параметров</a:t>
            </a:r>
          </a:p>
        </p:txBody>
      </p:sp>
    </p:spTree>
    <p:extLst>
      <p:ext uri="{BB962C8B-B14F-4D97-AF65-F5344CB8AC3E}">
        <p14:creationId xmlns:p14="http://schemas.microsoft.com/office/powerpoint/2010/main" val="29545000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43B799-D3D9-3E4E-9176-2CB79B29E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805C9E-A47B-9A48-BD4E-76139329D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sz="1800" b="1" dirty="0">
                <a:solidFill>
                  <a:srgbClr val="0F1115"/>
                </a:solidFill>
                <a:effectLst/>
                <a:latin typeface="quote-cjk-patch"/>
                <a:ea typeface="Times New Roman" panose="02020603050405020304" pitchFamily="18" charset="0"/>
              </a:rPr>
              <a:t>Длина пакета является значимым параметром управления производительностью</a:t>
            </a:r>
            <a:r>
              <a:rPr lang="ru-RU" sz="1800" dirty="0">
                <a:solidFill>
                  <a:srgbClr val="0F1115"/>
                </a:solidFill>
                <a:effectLst/>
                <a:latin typeface="quote-cjk-patch"/>
                <a:ea typeface="Times New Roman" panose="02020603050405020304" pitchFamily="18" charset="0"/>
              </a:rPr>
              <a:t> CSMA-сегмента сети. Линейная зависимость занятости канала от длины пакета позволяет </a:t>
            </a:r>
            <a:r>
              <a:rPr lang="ru-RU" sz="1800" b="1" dirty="0">
                <a:solidFill>
                  <a:srgbClr val="0F1115"/>
                </a:solidFill>
                <a:effectLst/>
                <a:latin typeface="quote-cjk-patch"/>
                <a:ea typeface="Times New Roman" panose="02020603050405020304" pitchFamily="18" charset="0"/>
              </a:rPr>
              <a:t>точно прогнозировать и регулировать нагрузку</a:t>
            </a:r>
            <a:r>
              <a:rPr lang="ru-RU" sz="1800" dirty="0">
                <a:solidFill>
                  <a:srgbClr val="0F1115"/>
                </a:solidFill>
                <a:effectLst/>
                <a:latin typeface="quote-cjk-patch"/>
                <a:ea typeface="Times New Roman" panose="02020603050405020304" pitchFamily="18" charset="0"/>
              </a:rPr>
              <a:t> на сеть.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ru-RU" sz="1800" dirty="0">
                <a:solidFill>
                  <a:srgbClr val="0F1115"/>
                </a:solidFill>
                <a:effectLst/>
                <a:latin typeface="quote-cjk-patch"/>
                <a:ea typeface="Times New Roman" panose="02020603050405020304" pitchFamily="18" charset="0"/>
              </a:rPr>
              <a:t>При проектировании и настройке сетей необходимо </a:t>
            </a:r>
            <a:r>
              <a:rPr lang="ru-RU" sz="1800" b="1" dirty="0">
                <a:solidFill>
                  <a:srgbClr val="0F1115"/>
                </a:solidFill>
                <a:effectLst/>
                <a:latin typeface="quote-cjk-patch"/>
                <a:ea typeface="Times New Roman" panose="02020603050405020304" pitchFamily="18" charset="0"/>
              </a:rPr>
              <a:t>учитывать не только количество станций и интенсивность трафика, но и размер передаваемых пакетов</a:t>
            </a:r>
            <a:r>
              <a:rPr lang="ru-RU" sz="1800" dirty="0">
                <a:solidFill>
                  <a:srgbClr val="0F1115"/>
                </a:solidFill>
                <a:effectLst/>
                <a:latin typeface="quote-cjk-patch"/>
                <a:ea typeface="Times New Roman" panose="02020603050405020304" pitchFamily="18" charset="0"/>
              </a:rPr>
              <a:t>. Оптимизация этого параметра может существенно улучшить эффективность использования сетевых ресурсов без изменения топологии или аппаратного обеспечения.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4295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5AD380-1180-B542-9C19-9FF2CB20C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0B0086-612F-3442-BC9C-6E167E67E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1800" dirty="0">
                <a:solidFill>
                  <a:srgbClr val="0F1115"/>
                </a:solidFill>
                <a:effectLst/>
                <a:latin typeface="quote-cjk-patch"/>
                <a:ea typeface="Times New Roman" panose="02020603050405020304" pitchFamily="18" charset="0"/>
              </a:rPr>
              <a:t>В ходе лабораторной работы было проведено исследование работы сегмента сети с протоколом доступа CSMA. Моделирование проводилось для различных значений интенсивности генерации пакетов и разного количества хостов. Были получены следующие основные результаты:</a:t>
            </a:r>
          </a:p>
          <a:p>
            <a:r>
              <a:rPr lang="ru-RU" sz="1800" dirty="0">
                <a:solidFill>
                  <a:srgbClr val="0F1115"/>
                </a:solidFill>
                <a:effectLst/>
                <a:latin typeface="quote-cjk-patch"/>
                <a:ea typeface="Times New Roman" panose="02020603050405020304" pitchFamily="18" charset="0"/>
                <a:cs typeface="Times New Roman" panose="02020603050405020304" pitchFamily="18" charset="0"/>
              </a:rPr>
              <a:t>Влияние интенсивности трафика на максимальное число хостов</a:t>
            </a:r>
            <a:r>
              <a:rPr lang="ru-RU" dirty="0">
                <a:effectLst/>
              </a:rPr>
              <a:t> 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r>
              <a:rPr lang="ru-RU" sz="1800" dirty="0">
                <a:solidFill>
                  <a:srgbClr val="0F1115"/>
                </a:solidFill>
                <a:effectLst/>
                <a:latin typeface="quote-cjk-patch"/>
                <a:ea typeface="Times New Roman" panose="02020603050405020304" pitchFamily="18" charset="0"/>
                <a:cs typeface="Times New Roman" panose="02020603050405020304" pitchFamily="18" charset="0"/>
              </a:rPr>
              <a:t>Сравнение ограничений по занятости канала и стабильности очереди</a:t>
            </a:r>
            <a:r>
              <a:rPr lang="ru-RU" dirty="0">
                <a:effectLst/>
              </a:rPr>
              <a:t> </a:t>
            </a:r>
            <a:endParaRPr lang="ru-RU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ru-RU" sz="1800" dirty="0">
                <a:solidFill>
                  <a:srgbClr val="0F1115"/>
                </a:solidFill>
                <a:effectLst/>
                <a:latin typeface="quote-cjk-patch"/>
                <a:ea typeface="Times New Roman" panose="02020603050405020304" pitchFamily="18" charset="0"/>
                <a:cs typeface="Times New Roman" panose="02020603050405020304" pitchFamily="18" charset="0"/>
              </a:rPr>
              <a:t>Эффективность модели CSMA без коллизий</a:t>
            </a:r>
            <a:r>
              <a:rPr lang="ru-RU" dirty="0">
                <a:effectLst/>
              </a:rPr>
              <a:t> 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r>
              <a:rPr lang="ru-RU" sz="1800" dirty="0">
                <a:solidFill>
                  <a:srgbClr val="0F1115"/>
                </a:solidFill>
                <a:effectLst/>
                <a:latin typeface="quote-cjk-patch"/>
                <a:ea typeface="Times New Roman" panose="02020603050405020304" pitchFamily="18" charset="0"/>
                <a:cs typeface="Times New Roman" panose="02020603050405020304" pitchFamily="18" charset="0"/>
              </a:rPr>
              <a:t>Влияние длины пакета на занятость канала</a:t>
            </a:r>
            <a:r>
              <a:rPr lang="ru-RU" dirty="0">
                <a:effectLst/>
              </a:rPr>
              <a:t>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9314272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Посылка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{2B98FC7A-4C36-BE43-B3AA-4AB94BBC57FE}tf10001120</Template>
  <TotalTime>2874</TotalTime>
  <Words>1224</Words>
  <Application>Microsoft Macintosh PowerPoint</Application>
  <PresentationFormat>Широкоэкранный</PresentationFormat>
  <Paragraphs>106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3" baseType="lpstr">
      <vt:lpstr>-apple-system</vt:lpstr>
      <vt:lpstr>Arial</vt:lpstr>
      <vt:lpstr>Corbel</vt:lpstr>
      <vt:lpstr>Gill Sans MT</vt:lpstr>
      <vt:lpstr>Menlo</vt:lpstr>
      <vt:lpstr>quote-cjk-patch</vt:lpstr>
      <vt:lpstr>Symbol</vt:lpstr>
      <vt:lpstr>Times New Roman</vt:lpstr>
      <vt:lpstr>Посылка</vt:lpstr>
      <vt:lpstr>Отчёт по лабораторной работе: Исследование работы сегмента сети CSMA (Вариант 4)</vt:lpstr>
      <vt:lpstr>Цель работы</vt:lpstr>
      <vt:lpstr>Постановка задачи</vt:lpstr>
      <vt:lpstr>Описание модели</vt:lpstr>
      <vt:lpstr>Реализация модели</vt:lpstr>
      <vt:lpstr>1. Реализация генерации пакетов</vt:lpstr>
      <vt:lpstr>2. Реализация буфера адаптера (очереди пакетов)</vt:lpstr>
      <vt:lpstr>3. Моделирование процесса передачи (CSMA логика)</vt:lpstr>
      <vt:lpstr>Презентация PowerPoint</vt:lpstr>
      <vt:lpstr>Замер характеристик</vt:lpstr>
      <vt:lpstr>Презентация PowerPoint</vt:lpstr>
      <vt:lpstr>Нахождение максимального N при Хар4 ≤ 0.5</vt:lpstr>
      <vt:lpstr>Нахождение максимального N при Хар4 ≤ 0.5</vt:lpstr>
      <vt:lpstr>Нахождение максимального N при Хар4 ≤ 0.5</vt:lpstr>
      <vt:lpstr>Нахождение максимального N при Хар4 ≤ 0.5</vt:lpstr>
      <vt:lpstr>Нахождение максимального N с ограниченной очередью</vt:lpstr>
      <vt:lpstr>Нахождение максимального N с ограниченной очередью</vt:lpstr>
      <vt:lpstr>Нахождение максимального N с ограниченной очередью</vt:lpstr>
      <vt:lpstr>Дополнительное исследование</vt:lpstr>
      <vt:lpstr>Дополнительное исследование</vt:lpstr>
      <vt:lpstr>Результаты</vt:lpstr>
      <vt:lpstr>Результаты</vt:lpstr>
      <vt:lpstr>Результаты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Отчёт по лабораторной работе: Исследование работы сегмента сети CSMA (Вариант 4)</dc:title>
  <dc:creator>Microsoft Office User</dc:creator>
  <cp:lastModifiedBy>Microsoft Office User</cp:lastModifiedBy>
  <cp:revision>6</cp:revision>
  <cp:lastPrinted>2025-12-22T09:35:12Z</cp:lastPrinted>
  <dcterms:created xsi:type="dcterms:W3CDTF">2025-12-11T18:07:31Z</dcterms:created>
  <dcterms:modified xsi:type="dcterms:W3CDTF">2025-12-22T10:59:43Z</dcterms:modified>
</cp:coreProperties>
</file>